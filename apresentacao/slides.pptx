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Verdana Bold" charset="1" panose="020B0804030504040204"/>
      <p:regular r:id="rId20"/>
    </p:embeddedFont>
    <p:embeddedFont>
      <p:font typeface="Verdana" charset="1" panose="020B060403050404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3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08519" y="754971"/>
            <a:ext cx="3294412" cy="2831135"/>
            <a:chOff x="0" y="0"/>
            <a:chExt cx="4392549" cy="3774846"/>
          </a:xfrm>
        </p:grpSpPr>
        <p:sp>
          <p:nvSpPr>
            <p:cNvPr name="Freeform 5" id="5" descr="ifpb_vertical.png"/>
            <p:cNvSpPr/>
            <p:nvPr/>
          </p:nvSpPr>
          <p:spPr>
            <a:xfrm flipH="false" flipV="false" rot="0">
              <a:off x="0" y="0"/>
              <a:ext cx="4392549" cy="3774821"/>
            </a:xfrm>
            <a:custGeom>
              <a:avLst/>
              <a:gdLst/>
              <a:ahLst/>
              <a:cxnLst/>
              <a:rect r="r" b="b" t="t" l="l"/>
              <a:pathLst>
                <a:path h="3774821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3774821"/>
                  </a:lnTo>
                  <a:lnTo>
                    <a:pt x="0" y="3774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64116" y="4232367"/>
            <a:ext cx="1537361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5"/>
              </a:lnSpc>
            </a:pPr>
            <a:r>
              <a:rPr lang="en-US" sz="6004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Análise de Vendas Globais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6" y="5467779"/>
            <a:ext cx="15373617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Respostas às perguntas de negócio do Departamento de Vendas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39882" y="6479010"/>
            <a:ext cx="3157147" cy="82363"/>
            <a:chOff x="0" y="0"/>
            <a:chExt cx="4209529" cy="10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09542" cy="109855"/>
            </a:xfrm>
            <a:custGeom>
              <a:avLst/>
              <a:gdLst/>
              <a:ahLst/>
              <a:cxnLst/>
              <a:rect r="r" b="b" t="t" l="l"/>
              <a:pathLst>
                <a:path h="109855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64116" y="6987245"/>
            <a:ext cx="15373617" cy="51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Francisco Viana   •   Murilo Maciel   •   Felipe Oliveira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7664053"/>
            <a:ext cx="1537361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Inteligência Empresarial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Estratégia e Tecnologias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8" id="8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577" y="2447896"/>
            <a:ext cx="9837630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•  Dados: 4 arquivos CSV - vendas 2009–2012), vendedores, fornecedores e transportadoras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•  Tecnologias: Jupyter Notebook + Python 3 + pandas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•  Passo a passo da solução: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–  Leitura e limpeza dos CSVs (remoção de 188 linhas vazias)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–  Junção (merge) das tabelas de apoio pelas chaves de ID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–  Agrupamentos e somas (groupby) para cada pergunta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–  Uma célula do notebook por pergunta — resultado visível logo abaixo do código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Tempo Gasto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8" id="8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98138" y="2539444"/>
          <a:ext cx="12620960" cy="4194277"/>
        </p:xfrm>
        <a:graphic>
          <a:graphicData uri="http://schemas.openxmlformats.org/drawingml/2006/table">
            <a:tbl>
              <a:tblPr/>
              <a:tblGrid>
                <a:gridCol w="9602904"/>
                <a:gridCol w="3018056"/>
              </a:tblGrid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Etapa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2"/>
                        </a:lnSpc>
                        <a:defRPr/>
                      </a:pPr>
                      <a:r>
                        <a:rPr lang="en-US" sz="22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Tempo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Análise dos requisitos (perguntas + exploração dos dados)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15 min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Preparação da infraestrutura (Python, Jupyter Notebook, pandas)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 min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Implementação e validação da solução no notebook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35 min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702"/>
                        </a:lnSpc>
                        <a:defRPr/>
                      </a:pPr>
                      <a:r>
                        <a:rPr lang="en-US" sz="2251">
                          <a:solidFill>
                            <a:srgbClr val="2125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+/- </a:t>
                      </a:r>
                      <a:r>
                        <a:rPr lang="en-US" sz="2251">
                          <a:solidFill>
                            <a:srgbClr val="21252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hora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4207157" y="3225784"/>
            <a:ext cx="3157147" cy="2539441"/>
            <a:chOff x="0" y="0"/>
            <a:chExt cx="4209529" cy="33859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09542" cy="3385947"/>
            </a:xfrm>
            <a:custGeom>
              <a:avLst/>
              <a:gdLst/>
              <a:ahLst/>
              <a:cxnLst/>
              <a:rect r="r" b="b" t="t" l="l"/>
              <a:pathLst>
                <a:path h="3385947" w="4209542">
                  <a:moveTo>
                    <a:pt x="0" y="564388"/>
                  </a:moveTo>
                  <a:cubicBezTo>
                    <a:pt x="0" y="252603"/>
                    <a:pt x="252603" y="0"/>
                    <a:pt x="564388" y="0"/>
                  </a:cubicBezTo>
                  <a:lnTo>
                    <a:pt x="3645154" y="0"/>
                  </a:lnTo>
                  <a:cubicBezTo>
                    <a:pt x="3956812" y="0"/>
                    <a:pt x="4209542" y="252603"/>
                    <a:pt x="4209542" y="564388"/>
                  </a:cubicBezTo>
                  <a:lnTo>
                    <a:pt x="4209542" y="2821559"/>
                  </a:lnTo>
                  <a:cubicBezTo>
                    <a:pt x="4209542" y="3133217"/>
                    <a:pt x="3956939" y="3385947"/>
                    <a:pt x="3645154" y="3385947"/>
                  </a:cubicBezTo>
                  <a:lnTo>
                    <a:pt x="564388" y="3385947"/>
                  </a:lnTo>
                  <a:cubicBezTo>
                    <a:pt x="252603" y="3385947"/>
                    <a:pt x="0" y="3133217"/>
                    <a:pt x="0" y="2821559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207157" y="3225784"/>
            <a:ext cx="123539" cy="2539441"/>
            <a:chOff x="0" y="0"/>
            <a:chExt cx="164719" cy="33859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385947"/>
            </a:xfrm>
            <a:custGeom>
              <a:avLst/>
              <a:gdLst/>
              <a:ahLst/>
              <a:cxnLst/>
              <a:rect r="r" b="b" t="t" l="l"/>
              <a:pathLst>
                <a:path h="3385947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385947"/>
                  </a:lnTo>
                  <a:lnTo>
                    <a:pt x="0" y="3385947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641763" y="3573485"/>
            <a:ext cx="2425198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TOTAL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41763" y="4132078"/>
            <a:ext cx="242519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+/-</a:t>
            </a: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1h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1. Os 10 maiores clientes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de vendas ($) por cliente — base completa 2009–2012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2676711"/>
          <a:ext cx="10256913" cy="6920557"/>
        </p:xfrm>
        <a:graphic>
          <a:graphicData uri="http://schemas.openxmlformats.org/drawingml/2006/table">
            <a:tbl>
              <a:tblPr/>
              <a:tblGrid>
                <a:gridCol w="957312"/>
                <a:gridCol w="6017389"/>
                <a:gridCol w="3282212"/>
              </a:tblGrid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#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Cliente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Vendas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Grunewald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201.320,45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 Fashing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152.114,79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Boleros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131.133,15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Champes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91.362,13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Corner Store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82.519,82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Eintrach GS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75.153,52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Don Balón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68.265,66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Warp AG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65.815,98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Rode &amp; Vite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59.976,93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Boombastic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50.922,47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2216784" y="3431677"/>
            <a:ext cx="5078892" cy="2745343"/>
            <a:chOff x="0" y="0"/>
            <a:chExt cx="6771856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71894" cy="3660521"/>
            </a:xfrm>
            <a:custGeom>
              <a:avLst/>
              <a:gdLst/>
              <a:ahLst/>
              <a:cxnLst/>
              <a:rect r="r" b="b" t="t" l="l"/>
              <a:pathLst>
                <a:path h="3660521" w="6771894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6161786" y="0"/>
                  </a:lnTo>
                  <a:cubicBezTo>
                    <a:pt x="6498717" y="0"/>
                    <a:pt x="6771894" y="273177"/>
                    <a:pt x="6771894" y="610108"/>
                  </a:cubicBezTo>
                  <a:lnTo>
                    <a:pt x="6771894" y="3050413"/>
                  </a:lnTo>
                  <a:cubicBezTo>
                    <a:pt x="6771894" y="3387344"/>
                    <a:pt x="6498717" y="3660521"/>
                    <a:pt x="6161786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16784" y="3431677"/>
            <a:ext cx="123539" cy="2745343"/>
            <a:chOff x="0" y="0"/>
            <a:chExt cx="164719" cy="36604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651391" y="3779387"/>
            <a:ext cx="4346943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MAIOR CLIENTE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51391" y="4337980"/>
            <a:ext cx="4346943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Grunewald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51391" y="5289328"/>
            <a:ext cx="434694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$ 201.320,45 em vendas (Alemanha)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2. Os três maiores países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de vendas ($) por país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5402" y="3431677"/>
            <a:ext cx="5078892" cy="2882608"/>
            <a:chOff x="0" y="0"/>
            <a:chExt cx="6771856" cy="38434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1894" cy="3843528"/>
            </a:xfrm>
            <a:custGeom>
              <a:avLst/>
              <a:gdLst/>
              <a:ahLst/>
              <a:cxnLst/>
              <a:rect r="r" b="b" t="t" l="l"/>
              <a:pathLst>
                <a:path h="3843528" w="677189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6131306" y="0"/>
                  </a:lnTo>
                  <a:cubicBezTo>
                    <a:pt x="6485128" y="0"/>
                    <a:pt x="6771894" y="286766"/>
                    <a:pt x="6771894" y="640588"/>
                  </a:cubicBezTo>
                  <a:lnTo>
                    <a:pt x="6771894" y="3202940"/>
                  </a:lnTo>
                  <a:cubicBezTo>
                    <a:pt x="6771894" y="3556762"/>
                    <a:pt x="6485128" y="3843528"/>
                    <a:pt x="613130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5402" y="3431677"/>
            <a:ext cx="123539" cy="2882608"/>
            <a:chOff x="0" y="0"/>
            <a:chExt cx="164719" cy="38434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843528"/>
            </a:xfrm>
            <a:custGeom>
              <a:avLst/>
              <a:gdLst/>
              <a:ahLst/>
              <a:cxnLst/>
              <a:rect r="r" b="b" t="t" l="l"/>
              <a:pathLst>
                <a:path h="384352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70009" y="3779387"/>
            <a:ext cx="4346943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1º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0009" y="4337980"/>
            <a:ext cx="4346943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Alemanha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0009" y="5289328"/>
            <a:ext cx="434694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$ 519.553,73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794725" y="3431677"/>
            <a:ext cx="5078892" cy="2882608"/>
            <a:chOff x="0" y="0"/>
            <a:chExt cx="6771856" cy="38434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71894" cy="3843528"/>
            </a:xfrm>
            <a:custGeom>
              <a:avLst/>
              <a:gdLst/>
              <a:ahLst/>
              <a:cxnLst/>
              <a:rect r="r" b="b" t="t" l="l"/>
              <a:pathLst>
                <a:path h="3843528" w="677189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6131306" y="0"/>
                  </a:lnTo>
                  <a:cubicBezTo>
                    <a:pt x="6485128" y="0"/>
                    <a:pt x="6771894" y="286766"/>
                    <a:pt x="6771894" y="640588"/>
                  </a:cubicBezTo>
                  <a:lnTo>
                    <a:pt x="6771894" y="3202940"/>
                  </a:lnTo>
                  <a:cubicBezTo>
                    <a:pt x="6771894" y="3556762"/>
                    <a:pt x="6485128" y="3843528"/>
                    <a:pt x="613130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94725" y="3431677"/>
            <a:ext cx="123539" cy="2882608"/>
            <a:chOff x="0" y="0"/>
            <a:chExt cx="164719" cy="3843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719" cy="3843528"/>
            </a:xfrm>
            <a:custGeom>
              <a:avLst/>
              <a:gdLst/>
              <a:ahLst/>
              <a:cxnLst/>
              <a:rect r="r" b="b" t="t" l="l"/>
              <a:pathLst>
                <a:path h="384352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229332" y="3779387"/>
            <a:ext cx="4346943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2º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29332" y="4337980"/>
            <a:ext cx="4346943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EUA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29332" y="5289328"/>
            <a:ext cx="434694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$ 186.313,22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54049" y="3431677"/>
            <a:ext cx="5078892" cy="2882608"/>
            <a:chOff x="0" y="0"/>
            <a:chExt cx="6771856" cy="38434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71894" cy="3843528"/>
            </a:xfrm>
            <a:custGeom>
              <a:avLst/>
              <a:gdLst/>
              <a:ahLst/>
              <a:cxnLst/>
              <a:rect r="r" b="b" t="t" l="l"/>
              <a:pathLst>
                <a:path h="3843528" w="6771894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6131306" y="0"/>
                  </a:lnTo>
                  <a:cubicBezTo>
                    <a:pt x="6485128" y="0"/>
                    <a:pt x="6771894" y="286766"/>
                    <a:pt x="6771894" y="640588"/>
                  </a:cubicBezTo>
                  <a:lnTo>
                    <a:pt x="6771894" y="3202940"/>
                  </a:lnTo>
                  <a:cubicBezTo>
                    <a:pt x="6771894" y="3556762"/>
                    <a:pt x="6485128" y="3843528"/>
                    <a:pt x="6131306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54049" y="3431677"/>
            <a:ext cx="123539" cy="2882608"/>
            <a:chOff x="0" y="0"/>
            <a:chExt cx="164719" cy="38434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4719" cy="3843528"/>
            </a:xfrm>
            <a:custGeom>
              <a:avLst/>
              <a:gdLst/>
              <a:ahLst/>
              <a:cxnLst/>
              <a:rect r="r" b="b" t="t" l="l"/>
              <a:pathLst>
                <a:path h="384352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788656" y="3779387"/>
            <a:ext cx="4346943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3º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88656" y="4337980"/>
            <a:ext cx="4346943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França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88656" y="5289328"/>
            <a:ext cx="434694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$ 175.565,30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6842" y="7193137"/>
            <a:ext cx="15602855" cy="58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A Alemanha sozinha representa 29% de todas as vendas globais.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3. Faturamento por categoria no Brasil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de vendas ($) das categorias, apenas clientes do Brasil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2676711"/>
          <a:ext cx="9303668" cy="6177026"/>
        </p:xfrm>
        <a:graphic>
          <a:graphicData uri="http://schemas.openxmlformats.org/drawingml/2006/table">
            <a:tbl>
              <a:tblPr/>
              <a:tblGrid>
                <a:gridCol w="6020021"/>
                <a:gridCol w="3283648"/>
              </a:tblGrid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Categoria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Vendas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Womens 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60.941,73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Sportwear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19.509,43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Babywear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10.367,21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Men´s Footwear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9.467,74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Ladies´Footwear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7.798,52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Men´s Clothes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6.158,06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Bath Clothes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3.407,70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Children´s 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2.752,43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1530451" y="3431677"/>
            <a:ext cx="5765225" cy="2745343"/>
            <a:chOff x="0" y="0"/>
            <a:chExt cx="7686967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7056" cy="3660521"/>
            </a:xfrm>
            <a:custGeom>
              <a:avLst/>
              <a:gdLst/>
              <a:ahLst/>
              <a:cxnLst/>
              <a:rect r="r" b="b" t="t" l="l"/>
              <a:pathLst>
                <a:path h="3660521" w="7687056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7076948" y="0"/>
                  </a:lnTo>
                  <a:cubicBezTo>
                    <a:pt x="7413879" y="0"/>
                    <a:pt x="7687056" y="273177"/>
                    <a:pt x="7687056" y="610108"/>
                  </a:cubicBezTo>
                  <a:lnTo>
                    <a:pt x="7687056" y="3050413"/>
                  </a:lnTo>
                  <a:cubicBezTo>
                    <a:pt x="7687056" y="3387344"/>
                    <a:pt x="7413879" y="3660521"/>
                    <a:pt x="7076948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30451" y="3431677"/>
            <a:ext cx="123539" cy="2745343"/>
            <a:chOff x="0" y="0"/>
            <a:chExt cx="164719" cy="36604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965057" y="3779387"/>
            <a:ext cx="5033277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CATEGORIA LÍDER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65057" y="4337980"/>
            <a:ext cx="5033277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Womens wear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65057" y="5289328"/>
            <a:ext cx="503327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$ 60.941,73 - 51% do faturamento no Brasil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4. Despesa com frete por transportadora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da coluna Frete ($) por transportadora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2882612"/>
          <a:ext cx="8769851" cy="2974124"/>
        </p:xfrm>
        <a:graphic>
          <a:graphicData uri="http://schemas.openxmlformats.org/drawingml/2006/table">
            <a:tbl>
              <a:tblPr/>
              <a:tblGrid>
                <a:gridCol w="5481157"/>
                <a:gridCol w="3288694"/>
              </a:tblGrid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Transportadora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Frete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Global Express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70.897,82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General Shipping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19.843,83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Great Logistics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18.771,69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1255912" y="3294412"/>
            <a:ext cx="6039755" cy="2745343"/>
            <a:chOff x="0" y="0"/>
            <a:chExt cx="8053006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53070" cy="3660521"/>
            </a:xfrm>
            <a:custGeom>
              <a:avLst/>
              <a:gdLst/>
              <a:ahLst/>
              <a:cxnLst/>
              <a:rect r="r" b="b" t="t" l="l"/>
              <a:pathLst>
                <a:path h="3660521" w="8053070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7442962" y="0"/>
                  </a:lnTo>
                  <a:cubicBezTo>
                    <a:pt x="7779893" y="0"/>
                    <a:pt x="8053070" y="273177"/>
                    <a:pt x="8053070" y="610108"/>
                  </a:cubicBezTo>
                  <a:lnTo>
                    <a:pt x="8053070" y="3050413"/>
                  </a:lnTo>
                  <a:cubicBezTo>
                    <a:pt x="8053070" y="3387344"/>
                    <a:pt x="7779893" y="3660521"/>
                    <a:pt x="7442962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55912" y="3294412"/>
            <a:ext cx="123539" cy="2745343"/>
            <a:chOff x="0" y="0"/>
            <a:chExt cx="164719" cy="36604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690518" y="3642122"/>
            <a:ext cx="530780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MAIOR DESPESA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90518" y="4200715"/>
            <a:ext cx="5307806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Global Express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90518" y="5152063"/>
            <a:ext cx="530780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65% de todo o gasto com frete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5. Principais clientes de Men´s Footwear na Alemanha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52312" y="1903971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8138" y="2489598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de vendas ($) filtrando categoria e país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3084491"/>
          <a:ext cx="10256913" cy="4118017"/>
        </p:xfrm>
        <a:graphic>
          <a:graphicData uri="http://schemas.openxmlformats.org/drawingml/2006/table">
            <a:tbl>
              <a:tblPr/>
              <a:tblGrid>
                <a:gridCol w="957312"/>
                <a:gridCol w="6017389"/>
                <a:gridCol w="3282212"/>
              </a:tblGrid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#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Cliente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Vendas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Grunewald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20.488,49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Gluderstedt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11.923,35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Boombastic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11.235,97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Eintrach GS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10.377,83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Warp AG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9.085,76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098138" y="7303192"/>
            <a:ext cx="1011215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Demais 5 clientes somam $ 8.720,34.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16784" y="3431677"/>
            <a:ext cx="5078892" cy="2745343"/>
            <a:chOff x="0" y="0"/>
            <a:chExt cx="6771856" cy="36604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1894" cy="3660521"/>
            </a:xfrm>
            <a:custGeom>
              <a:avLst/>
              <a:gdLst/>
              <a:ahLst/>
              <a:cxnLst/>
              <a:rect r="r" b="b" t="t" l="l"/>
              <a:pathLst>
                <a:path h="3660521" w="6771894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6161786" y="0"/>
                  </a:lnTo>
                  <a:cubicBezTo>
                    <a:pt x="6498717" y="0"/>
                    <a:pt x="6771894" y="273177"/>
                    <a:pt x="6771894" y="610108"/>
                  </a:cubicBezTo>
                  <a:lnTo>
                    <a:pt x="6771894" y="3050413"/>
                  </a:lnTo>
                  <a:cubicBezTo>
                    <a:pt x="6771894" y="3387344"/>
                    <a:pt x="6498717" y="3660521"/>
                    <a:pt x="6161786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16784" y="3431677"/>
            <a:ext cx="123539" cy="2745343"/>
            <a:chOff x="0" y="0"/>
            <a:chExt cx="164719" cy="36604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651391" y="3779387"/>
            <a:ext cx="4346943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DESTAQUE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51391" y="4337980"/>
            <a:ext cx="4346943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Grunewald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51391" y="5289328"/>
            <a:ext cx="434694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$ 20.488,49 só nesse segmento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6. Vendedores que mais dão descontos nos EUA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8138" y="2340354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da coluna Desconto ($) por vendedor, apenas clientes dos EUA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7" id="7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98138" y="2882612"/>
          <a:ext cx="9055825" cy="3717654"/>
        </p:xfrm>
        <a:graphic>
          <a:graphicData uri="http://schemas.openxmlformats.org/drawingml/2006/table">
            <a:tbl>
              <a:tblPr/>
              <a:tblGrid>
                <a:gridCol w="5488379"/>
                <a:gridCol w="3567446"/>
              </a:tblGrid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Vendedor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Descontos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Gael Monfils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7.415,13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Yannick Sinner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1.160,05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Martina Hingis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733,78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3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Cori Gauff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404,55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1255912" y="3294412"/>
            <a:ext cx="6039755" cy="2745343"/>
            <a:chOff x="0" y="0"/>
            <a:chExt cx="8053006" cy="36604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53070" cy="3660521"/>
            </a:xfrm>
            <a:custGeom>
              <a:avLst/>
              <a:gdLst/>
              <a:ahLst/>
              <a:cxnLst/>
              <a:rect r="r" b="b" t="t" l="l"/>
              <a:pathLst>
                <a:path h="3660521" w="8053070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7442962" y="0"/>
                  </a:lnTo>
                  <a:cubicBezTo>
                    <a:pt x="7779893" y="0"/>
                    <a:pt x="8053070" y="273177"/>
                    <a:pt x="8053070" y="610108"/>
                  </a:cubicBezTo>
                  <a:lnTo>
                    <a:pt x="8053070" y="3050413"/>
                  </a:lnTo>
                  <a:cubicBezTo>
                    <a:pt x="8053070" y="3387344"/>
                    <a:pt x="7779893" y="3660521"/>
                    <a:pt x="7442962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55912" y="3294412"/>
            <a:ext cx="123539" cy="2745343"/>
            <a:chOff x="0" y="0"/>
            <a:chExt cx="164719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90518" y="3642122"/>
            <a:ext cx="530780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CONCENTRAÇÃO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90518" y="4200715"/>
            <a:ext cx="5307806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Gael Monfils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90518" y="5152063"/>
            <a:ext cx="530780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concede 76% de todos os descontos nos EUA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52312" y="1903971"/>
            <a:ext cx="3157147" cy="96088"/>
            <a:chOff x="0" y="0"/>
            <a:chExt cx="4209529" cy="1281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7. Fornecedores com maior margem em Womens wear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875966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8138" y="2286186"/>
            <a:ext cx="1491651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da Margem Bruta ($) por fornecedor no segmento - top 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2676711"/>
          <a:ext cx="10542887" cy="4118017"/>
        </p:xfrm>
        <a:graphic>
          <a:graphicData uri="http://schemas.openxmlformats.org/drawingml/2006/table">
            <a:tbl>
              <a:tblPr/>
              <a:tblGrid>
                <a:gridCol w="958444"/>
                <a:gridCol w="6024507"/>
                <a:gridCol w="3559936"/>
              </a:tblGrid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#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Fornecedor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Margem Bruta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Palsii Sports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81.839,94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Baby Dress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20.675,22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Wills Surfwear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10.019,12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Great Outdoors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9.165,03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Global Outlet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4.884,99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2354049" y="3431677"/>
            <a:ext cx="4941618" cy="2745343"/>
            <a:chOff x="0" y="0"/>
            <a:chExt cx="6588823" cy="3660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8887" cy="3660521"/>
            </a:xfrm>
            <a:custGeom>
              <a:avLst/>
              <a:gdLst/>
              <a:ahLst/>
              <a:cxnLst/>
              <a:rect r="r" b="b" t="t" l="l"/>
              <a:pathLst>
                <a:path h="3660521" w="6588887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5978779" y="0"/>
                  </a:lnTo>
                  <a:cubicBezTo>
                    <a:pt x="6315710" y="0"/>
                    <a:pt x="6588887" y="273177"/>
                    <a:pt x="6588887" y="610108"/>
                  </a:cubicBezTo>
                  <a:lnTo>
                    <a:pt x="6588887" y="3050413"/>
                  </a:lnTo>
                  <a:cubicBezTo>
                    <a:pt x="6588887" y="3387344"/>
                    <a:pt x="6315710" y="3660521"/>
                    <a:pt x="5978779" y="3660521"/>
                  </a:cubicBezTo>
                  <a:lnTo>
                    <a:pt x="610108" y="3660521"/>
                  </a:lnTo>
                  <a:cubicBezTo>
                    <a:pt x="27317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54049" y="3431677"/>
            <a:ext cx="123539" cy="2745343"/>
            <a:chOff x="0" y="0"/>
            <a:chExt cx="164719" cy="36604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719" cy="3660521"/>
            </a:xfrm>
            <a:custGeom>
              <a:avLst/>
              <a:gdLst/>
              <a:ahLst/>
              <a:cxnLst/>
              <a:rect r="r" b="b" t="t" l="l"/>
              <a:pathLst>
                <a:path h="3660521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788656" y="3779387"/>
            <a:ext cx="420966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LÍDER ISOLADO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88656" y="4337980"/>
            <a:ext cx="4209669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Pälsii Sports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88656" y="5289328"/>
            <a:ext cx="420966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$ 81.839,94 - quase 4x o segundo colocado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8. Vendas em 2009 e evolução anual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de vendas ($) por ano e variação percentual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2676711"/>
          <a:ext cx="8502943" cy="3527005"/>
        </p:xfrm>
        <a:graphic>
          <a:graphicData uri="http://schemas.openxmlformats.org/drawingml/2006/table">
            <a:tbl>
              <a:tblPr/>
              <a:tblGrid>
                <a:gridCol w="2194308"/>
                <a:gridCol w="3565750"/>
                <a:gridCol w="2742885"/>
              </a:tblGrid>
              <a:tr h="7054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Ano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Vendas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Crescimento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7054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2009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87.666,29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—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4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370.788,56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+323%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7054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2011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641.719,41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+73%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4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2012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682.973,44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+6%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1255912" y="2676716"/>
            <a:ext cx="6039755" cy="2402176"/>
            <a:chOff x="0" y="0"/>
            <a:chExt cx="8053006" cy="32029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52943" cy="3202813"/>
            </a:xfrm>
            <a:custGeom>
              <a:avLst/>
              <a:gdLst/>
              <a:ahLst/>
              <a:cxnLst/>
              <a:rect r="r" b="b" t="t" l="l"/>
              <a:pathLst>
                <a:path h="3202813" w="8052943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lnTo>
                    <a:pt x="7519162" y="0"/>
                  </a:lnTo>
                  <a:cubicBezTo>
                    <a:pt x="7813929" y="0"/>
                    <a:pt x="8052943" y="239014"/>
                    <a:pt x="8052943" y="533781"/>
                  </a:cubicBezTo>
                  <a:lnTo>
                    <a:pt x="8052943" y="2669032"/>
                  </a:lnTo>
                  <a:cubicBezTo>
                    <a:pt x="8052943" y="2963799"/>
                    <a:pt x="7813929" y="3202813"/>
                    <a:pt x="7519162" y="3202813"/>
                  </a:cubicBezTo>
                  <a:lnTo>
                    <a:pt x="533781" y="3202813"/>
                  </a:lnTo>
                  <a:cubicBezTo>
                    <a:pt x="239014" y="3202940"/>
                    <a:pt x="0" y="2963926"/>
                    <a:pt x="0" y="2669032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55912" y="2676716"/>
            <a:ext cx="123539" cy="2402176"/>
            <a:chOff x="0" y="0"/>
            <a:chExt cx="164719" cy="3202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719" cy="3202940"/>
            </a:xfrm>
            <a:custGeom>
              <a:avLst/>
              <a:gdLst/>
              <a:ahLst/>
              <a:cxnLst/>
              <a:rect r="r" b="b" t="t" l="l"/>
              <a:pathLst>
                <a:path h="3202940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690518" y="3024416"/>
            <a:ext cx="530780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VENDIDO EM 2009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90518" y="3583010"/>
            <a:ext cx="5307806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$ 87.666,29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47352" y="5536406"/>
            <a:ext cx="58568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O faturamento vem CRESCENDO todos os anos, porém com ritmo cada vez menor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9. Men´s Footwear em 2013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Clientes, cidades e valores do segmento no ano de 2013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5402" y="3019882"/>
            <a:ext cx="15785735" cy="2882608"/>
            <a:chOff x="0" y="0"/>
            <a:chExt cx="21047646" cy="38434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47583" cy="3843528"/>
            </a:xfrm>
            <a:custGeom>
              <a:avLst/>
              <a:gdLst/>
              <a:ahLst/>
              <a:cxnLst/>
              <a:rect r="r" b="b" t="t" l="l"/>
              <a:pathLst>
                <a:path h="3843528" w="21047583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20406995" y="0"/>
                  </a:lnTo>
                  <a:cubicBezTo>
                    <a:pt x="20760817" y="0"/>
                    <a:pt x="21047583" y="286766"/>
                    <a:pt x="21047583" y="640588"/>
                  </a:cubicBezTo>
                  <a:lnTo>
                    <a:pt x="21047583" y="3202940"/>
                  </a:lnTo>
                  <a:cubicBezTo>
                    <a:pt x="21047583" y="3556762"/>
                    <a:pt x="20760817" y="3843528"/>
                    <a:pt x="20406995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5402" y="3019882"/>
            <a:ext cx="123539" cy="2882608"/>
            <a:chOff x="0" y="0"/>
            <a:chExt cx="164719" cy="38434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843528"/>
            </a:xfrm>
            <a:custGeom>
              <a:avLst/>
              <a:gdLst/>
              <a:ahLst/>
              <a:cxnLst/>
              <a:rect r="r" b="b" t="t" l="l"/>
              <a:pathLst>
                <a:path h="384352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70009" y="3367583"/>
            <a:ext cx="1505378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RESPOSTA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0009" y="3926176"/>
            <a:ext cx="15053786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CD191E"/>
                </a:solidFill>
                <a:latin typeface="Verdana Bold"/>
                <a:ea typeface="Verdana Bold"/>
                <a:cs typeface="Verdana Bold"/>
                <a:sym typeface="Verdana Bold"/>
              </a:rPr>
              <a:t>Não há vendas registradas em 2013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0009" y="4877524"/>
            <a:ext cx="1505378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A base fornecida cobre apenas o período de 2009 a 2012, não existem clientes nem cidades a reportar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10. Vendas por país na Europa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312" y="1885102"/>
            <a:ext cx="1491651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Somatório de vendas ($) dos 15 países europeus da base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9" id="9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8138" y="2676711"/>
          <a:ext cx="6577389" cy="5662274"/>
        </p:xfrm>
        <a:graphic>
          <a:graphicData uri="http://schemas.openxmlformats.org/drawingml/2006/table">
            <a:tbl>
              <a:tblPr/>
              <a:tblGrid>
                <a:gridCol w="3562752"/>
                <a:gridCol w="3014636"/>
              </a:tblGrid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País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Vendas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Alemanha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519.553,73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França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175.565,30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Reino Unido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167.101,35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Irlanda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131.133,15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Dinamarca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59.976,93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Suécia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57.162,01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Áustria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54.468,49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Espanha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28.460,23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8785103" y="2676711"/>
          <a:ext cx="6577389" cy="5033132"/>
        </p:xfrm>
        <a:graphic>
          <a:graphicData uri="http://schemas.openxmlformats.org/drawingml/2006/table">
            <a:tbl>
              <a:tblPr/>
              <a:tblGrid>
                <a:gridCol w="3562752"/>
                <a:gridCol w="3014636"/>
              </a:tblGrid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País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Verdana Bold"/>
                          <a:ea typeface="Verdana Bold"/>
                          <a:cs typeface="Verdana Bold"/>
                          <a:sym typeface="Verdana Bold"/>
                        </a:rPr>
                        <a:t>Vendas ($)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41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Portugal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14.230,55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Bélgica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13.952,71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Suíça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12.855,03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Itália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12.205,31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Finlândia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6.457,66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Polônia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3.977,18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C"/>
                    </a:solidFill>
                  </a:tcPr>
                </a:tc>
              </a:tr>
              <a:tr h="629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Noruega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52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193,36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189577" y="8752665"/>
            <a:ext cx="1560285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Total Europa: $ 1.257.292,99 - 71% das vendas globais.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622240"/>
            <a:ext cx="12994777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Conclusão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8324" y="1619755"/>
            <a:ext cx="3157147" cy="96088"/>
            <a:chOff x="0" y="0"/>
            <a:chExt cx="4209529" cy="128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9542" cy="128143"/>
            </a:xfrm>
            <a:custGeom>
              <a:avLst/>
              <a:gdLst/>
              <a:ahLst/>
              <a:cxnLst/>
              <a:rect r="r" b="b" t="t" l="l"/>
              <a:pathLst>
                <a:path h="128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168029" y="576520"/>
            <a:ext cx="2402176" cy="675608"/>
            <a:chOff x="0" y="0"/>
            <a:chExt cx="3202902" cy="900811"/>
          </a:xfrm>
        </p:grpSpPr>
        <p:sp>
          <p:nvSpPr>
            <p:cNvPr name="Freeform 8" id="8" descr="ifpb_horizontal.png"/>
            <p:cNvSpPr/>
            <p:nvPr/>
          </p:nvSpPr>
          <p:spPr>
            <a:xfrm flipH="false" flipV="false" rot="0">
              <a:off x="0" y="0"/>
              <a:ext cx="3202940" cy="900811"/>
            </a:xfrm>
            <a:custGeom>
              <a:avLst/>
              <a:gdLst/>
              <a:ahLst/>
              <a:cxnLst/>
              <a:rect r="r" b="b" t="t" l="l"/>
              <a:pathLst>
                <a:path h="90081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993058"/>
            <a:ext cx="18301840" cy="301990"/>
            <a:chOff x="0" y="0"/>
            <a:chExt cx="24402453" cy="402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02414" cy="402590"/>
            </a:xfrm>
            <a:custGeom>
              <a:avLst/>
              <a:gdLst/>
              <a:ahLst/>
              <a:cxnLst/>
              <a:rect r="r" b="b" t="t" l="l"/>
              <a:pathLst>
                <a:path h="40259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43940" y="9352436"/>
            <a:ext cx="91525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577" y="2516534"/>
            <a:ext cx="10798502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212529"/>
                </a:solidFill>
                <a:latin typeface="Verdana Bold"/>
                <a:ea typeface="Verdana Bold"/>
                <a:cs typeface="Verdana Bold"/>
                <a:sym typeface="Verdana Bold"/>
              </a:rPr>
              <a:t>As 10 perguntas foram respondidas com um arquivo Python 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•  Alemanha é o mercado dominante, Grunewald é o maior cliente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•  Faturamento cresceu todos os anos, mas desacelerou em 2012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529"/>
                </a:solidFill>
                <a:latin typeface="Verdana"/>
                <a:ea typeface="Verdana"/>
                <a:cs typeface="Verdana"/>
                <a:sym typeface="Verdana"/>
              </a:rPr>
              <a:t>•  Womens wear lidera no Brasil, Palsii Sports dá a maior margem no segmento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628588" y="3157147"/>
            <a:ext cx="4667088" cy="2608078"/>
            <a:chOff x="0" y="0"/>
            <a:chExt cx="6222784" cy="3477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2873" cy="3477514"/>
            </a:xfrm>
            <a:custGeom>
              <a:avLst/>
              <a:gdLst/>
              <a:ahLst/>
              <a:cxnLst/>
              <a:rect r="r" b="b" t="t" l="l"/>
              <a:pathLst>
                <a:path h="3477514" w="6222873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lnTo>
                    <a:pt x="5643245" y="0"/>
                  </a:lnTo>
                  <a:cubicBezTo>
                    <a:pt x="5963285" y="0"/>
                    <a:pt x="6222873" y="259461"/>
                    <a:pt x="6222873" y="579628"/>
                  </a:cubicBezTo>
                  <a:lnTo>
                    <a:pt x="6222873" y="2897886"/>
                  </a:lnTo>
                  <a:cubicBezTo>
                    <a:pt x="6222873" y="3217926"/>
                    <a:pt x="5963412" y="3477514"/>
                    <a:pt x="5643245" y="3477514"/>
                  </a:cubicBezTo>
                  <a:lnTo>
                    <a:pt x="579628" y="3477514"/>
                  </a:lnTo>
                  <a:cubicBezTo>
                    <a:pt x="259461" y="3477387"/>
                    <a:pt x="0" y="3217926"/>
                    <a:pt x="0" y="2897886"/>
                  </a:cubicBezTo>
                  <a:close/>
                </a:path>
              </a:pathLst>
            </a:custGeom>
            <a:solidFill>
              <a:srgbClr val="EAF5E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28588" y="3157147"/>
            <a:ext cx="123539" cy="2608078"/>
            <a:chOff x="0" y="0"/>
            <a:chExt cx="164719" cy="34774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719" cy="3477387"/>
            </a:xfrm>
            <a:custGeom>
              <a:avLst/>
              <a:gdLst/>
              <a:ahLst/>
              <a:cxnLst/>
              <a:rect r="r" b="b" t="t" l="l"/>
              <a:pathLst>
                <a:path h="3477387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2F9E4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63195" y="3504857"/>
            <a:ext cx="393513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6C757D"/>
                </a:solidFill>
                <a:latin typeface="Verdana Bold"/>
                <a:ea typeface="Verdana Bold"/>
                <a:cs typeface="Verdana Bold"/>
                <a:sym typeface="Verdana Bold"/>
              </a:rPr>
              <a:t>REPRODUZIR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63195" y="4063451"/>
            <a:ext cx="3935139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1 clique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72720" y="5014798"/>
            <a:ext cx="39351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C757D"/>
                </a:solidFill>
                <a:latin typeface="Verdana"/>
                <a:ea typeface="Verdana"/>
                <a:cs typeface="Verdana"/>
                <a:sym typeface="Verdana"/>
              </a:rPr>
              <a:t>python3 analise_vendas.py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577" y="8419024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E6B2C"/>
                </a:solidFill>
                <a:latin typeface="Verdana Bold"/>
                <a:ea typeface="Verdana Bold"/>
                <a:cs typeface="Verdana Bold"/>
                <a:sym typeface="Verdana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DAHSkuWPqnU</dc:identifier>
  <dcterms:modified xsi:type="dcterms:W3CDTF">2011-08-01T06:04:30Z</dcterms:modified>
  <cp:revision>1</cp:revision>
  <dc:title>slides.pptx</dc:title>
</cp:coreProperties>
</file>